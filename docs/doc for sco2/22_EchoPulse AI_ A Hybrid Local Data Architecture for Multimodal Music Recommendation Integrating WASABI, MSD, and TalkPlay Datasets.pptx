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uNucB2j7xvyjYpwxZem4/KcKU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Preséntate en menos de 20 segundos: nombre, filiación y el título del trabajo. No leas la diapositiva.</a:t>
            </a:r>
            <a:endParaRPr/>
          </a:p>
        </p:txBody>
      </p:sp>
      <p:sp>
        <p:nvSpPr>
          <p:cNvPr id="38" name="Google Shape;38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Anuncia el recorrido en 15 segundos. Si tu ponencia dura menos de 12 minutos, considera eliminar esta diapositiva.</a:t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diapositivas de sección dan respiro y ayudan a la audiencia a ubicarse. Úsalas solo si tu ponencia supera los 12 minutos.</a:t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idea por diapositiva. Si la figura viene del paper, agranda tipografías y elimina detalles que no se leen a 10 metros.</a:t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la audiencia solo recuerda una diapositiva, que sea esta. Dila en voz alta antes de mostrarla.</a:t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Máximo tres referencias habladas. El resto queda en la sección de referencias.</a:t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 el método en términos de decisiones, no de pasos: por qué elegiste cada cosa. Deja los detalles finos para las preguntas.</a:t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Reemplaza los datos del gráfico haciendo clic derecho ▸ Editar datos. Los valores actuales son de ejemplo.</a:t>
            </a:r>
            <a:endParaRPr/>
          </a:p>
        </p:txBody>
      </p:sp>
      <p:sp>
        <p:nvSpPr>
          <p:cNvPr id="185" name="Google Shape;18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Nombrar las limitaciones antes de que las señale el auditorio genera credibilidad y suele mejorar las preguntas.</a:t>
            </a:r>
            <a:endParaRPr/>
          </a:p>
        </p:txBody>
      </p:sp>
      <p:sp>
        <p:nvSpPr>
          <p:cNvPr id="200" name="Google Shape;20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Deja esta diapositiva proyectada durante las preguntas: tu contacto queda visible para quien quiera escribirte después.</a:t>
            </a:r>
            <a:endParaRPr/>
          </a:p>
        </p:txBody>
      </p:sp>
      <p:sp>
        <p:nvSpPr>
          <p:cNvPr id="243" name="Google Shape;24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bg>
      <p:bgPr>
        <a:solidFill>
          <a:srgbClr val="07202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6"/>
          <p:cNvSpPr/>
          <p:nvPr/>
        </p:nvSpPr>
        <p:spPr>
          <a:xfrm>
            <a:off x="640080" y="5029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9AA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AAA"/>
                </a:solidFill>
                <a:latin typeface="Calibri"/>
                <a:ea typeface="Calibri"/>
                <a:cs typeface="Calibri"/>
                <a:sym typeface="Calibri"/>
              </a:rPr>
              <a:t>20.º CONGRESO COLOMBIANO DE COMPUTACIÓN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16"/>
          <p:cNvSpPr txBox="1"/>
          <p:nvPr>
            <p:ph type="title"/>
          </p:nvPr>
        </p:nvSpPr>
        <p:spPr>
          <a:xfrm>
            <a:off x="640080" y="1874520"/>
            <a:ext cx="9509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  <a:defRPr b="1" i="0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6"/>
          <p:cNvSpPr txBox="1"/>
          <p:nvPr>
            <p:ph idx="1" type="body"/>
          </p:nvPr>
        </p:nvSpPr>
        <p:spPr>
          <a:xfrm>
            <a:off x="640080" y="379476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40"/>
              </a:spcBef>
              <a:spcAft>
                <a:spcPts val="0"/>
              </a:spcAft>
              <a:buClr>
                <a:srgbClr val="EF6F4E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EF6F4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2" type="body"/>
          </p:nvPr>
        </p:nvSpPr>
        <p:spPr>
          <a:xfrm>
            <a:off x="640080" y="4315968"/>
            <a:ext cx="9509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60"/>
              </a:spcBef>
              <a:spcAft>
                <a:spcPts val="0"/>
              </a:spcAft>
              <a:buClr>
                <a:srgbClr val="9DB1BF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/>
          <p:nvPr/>
        </p:nvSpPr>
        <p:spPr>
          <a:xfrm>
            <a:off x="640080" y="605332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20CCC'26  ·  Cartagena de Indias  ·  12–14 de agosto de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6"/>
          <p:cNvSpPr/>
          <p:nvPr/>
        </p:nvSpPr>
        <p:spPr>
          <a:xfrm>
            <a:off x="640080" y="630936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F7383"/>
                </a:solidFill>
                <a:latin typeface="Calibri"/>
                <a:ea typeface="Calibri"/>
                <a:cs typeface="Calibri"/>
                <a:sym typeface="Calibri"/>
              </a:rPr>
              <a:t>Escuela Naval Almirante Padilla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">
  <p:cSld name="CONTENIDO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>
            <p:ph type="title"/>
          </p:nvPr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3000"/>
              <a:buFont typeface="Cambria"/>
              <a:buNone/>
              <a:defRPr b="1" i="0" sz="3000" u="none" cap="none" strike="noStrike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7"/>
          <p:cNvSpPr txBox="1"/>
          <p:nvPr>
            <p:ph idx="1" type="body"/>
          </p:nvPr>
        </p:nvSpPr>
        <p:spPr>
          <a:xfrm>
            <a:off x="640080" y="1371600"/>
            <a:ext cx="10911535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16232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7"/>
          <p:cNvSpPr/>
          <p:nvPr/>
        </p:nvSpPr>
        <p:spPr>
          <a:xfrm>
            <a:off x="640080" y="635508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20CCC'26  ·  Cartagena de Indias  ·  12–14 de agosto de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11430000" y="63550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CION">
  <p:cSld name="SECCION">
    <p:bg>
      <p:bgPr>
        <a:solidFill>
          <a:srgbClr val="0A2E45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640080" y="22860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280"/>
              </a:spcBef>
              <a:spcAft>
                <a:spcPts val="0"/>
              </a:spcAft>
              <a:buClr>
                <a:srgbClr val="EF6F4E"/>
              </a:buClr>
              <a:buSzPts val="6400"/>
              <a:buFont typeface="Arial"/>
              <a:buNone/>
              <a:defRPr b="1" i="0" sz="6400" u="none" cap="none" strike="noStrike">
                <a:solidFill>
                  <a:srgbClr val="EF6F4E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8"/>
          <p:cNvSpPr txBox="1"/>
          <p:nvPr>
            <p:ph type="title"/>
          </p:nvPr>
        </p:nvSpPr>
        <p:spPr>
          <a:xfrm>
            <a:off x="640080" y="329184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  <a:defRPr b="1" i="0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18"/>
          <p:cNvSpPr txBox="1"/>
          <p:nvPr>
            <p:ph idx="2" type="body"/>
          </p:nvPr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9DB1B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_2COL">
  <p:cSld name="CONTENIDO_2COL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3000"/>
              <a:buFont typeface="Cambria"/>
              <a:buNone/>
              <a:defRPr b="1" i="0" sz="3000" u="none" cap="none" strike="noStrike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640080" y="1371600"/>
            <a:ext cx="521208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16232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2" type="body"/>
          </p:nvPr>
        </p:nvSpPr>
        <p:spPr>
          <a:xfrm>
            <a:off x="6400800" y="1371600"/>
            <a:ext cx="5148072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16232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9"/>
          <p:cNvSpPr/>
          <p:nvPr/>
        </p:nvSpPr>
        <p:spPr>
          <a:xfrm>
            <a:off x="640080" y="635508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20CCC'26  ·  Cartagena de Indias  ·  12–14 de agosto de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11430000" y="63550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ENZO">
  <p:cSld name="LIENZO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3000"/>
              <a:buFont typeface="Cambria"/>
              <a:buNone/>
              <a:defRPr b="1" i="0" sz="3000" u="none" cap="none" strike="noStrike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20"/>
          <p:cNvSpPr/>
          <p:nvPr/>
        </p:nvSpPr>
        <p:spPr>
          <a:xfrm>
            <a:off x="640080" y="635508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20CCC'26  ·  Cartagena de Indias  ·  12–14 de agosto de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11430000" y="63550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IERRE">
    <p:bg>
      <p:bgPr>
        <a:solidFill>
          <a:srgbClr val="07202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idx="12" type="sldNum"/>
          </p:nvPr>
        </p:nvSpPr>
        <p:spPr>
          <a:xfrm>
            <a:off x="11430000" y="63550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202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"/>
          <p:cNvSpPr txBox="1"/>
          <p:nvPr>
            <p:ph type="title"/>
          </p:nvPr>
        </p:nvSpPr>
        <p:spPr>
          <a:xfrm>
            <a:off x="640080" y="1880603"/>
            <a:ext cx="11206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lang="en-US" sz="3100"/>
              <a:t>EchoPulse AI: A Hybrid Local Data Architecture for Multimodal Music Recommendation Integrating WASABI, MSD, and TalkPlay Datasets</a:t>
            </a:r>
            <a:endParaRPr sz="3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t/>
            </a:r>
            <a:endParaRPr sz="3100"/>
          </a:p>
        </p:txBody>
      </p:sp>
      <p:sp>
        <p:nvSpPr>
          <p:cNvPr id="41" name="Google Shape;41;p1"/>
          <p:cNvSpPr txBox="1"/>
          <p:nvPr>
            <p:ph idx="1" type="body"/>
          </p:nvPr>
        </p:nvSpPr>
        <p:spPr>
          <a:xfrm>
            <a:off x="640080" y="379476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EDC5F"/>
              </a:buClr>
              <a:buSzPts val="1700"/>
              <a:buNone/>
            </a:pPr>
            <a:r>
              <a:rPr lang="en-US">
                <a:solidFill>
                  <a:srgbClr val="FEDC5F"/>
                </a:solidFill>
              </a:rPr>
              <a:t>John Kennedy Landazuri Sandoval¹</a:t>
            </a:r>
            <a:r>
              <a:rPr lang="en-US" sz="1700">
                <a:solidFill>
                  <a:srgbClr val="FEDC5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>
                <a:solidFill>
                  <a:srgbClr val="FEDC5F"/>
                </a:solidFill>
              </a:rPr>
              <a:t>Cristian Camilo Ordonez Quintero¹</a:t>
            </a:r>
            <a:r>
              <a:rPr lang="en-US" sz="1700">
                <a:solidFill>
                  <a:srgbClr val="FEDC5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>
                <a:solidFill>
                  <a:srgbClr val="FEDC5F"/>
                </a:solidFill>
              </a:rPr>
              <a:t>Cristian Mendez Rodriguez¹, Hugo Armando Ordoñez Erazo²</a:t>
            </a:r>
            <a:endParaRPr sz="1700">
              <a:solidFill>
                <a:srgbClr val="FEDC5F"/>
              </a:solidFill>
            </a:endParaRPr>
          </a:p>
        </p:txBody>
      </p:sp>
      <p:sp>
        <p:nvSpPr>
          <p:cNvPr id="42" name="Google Shape;42;p1"/>
          <p:cNvSpPr txBox="1"/>
          <p:nvPr>
            <p:ph idx="2" type="body"/>
          </p:nvPr>
        </p:nvSpPr>
        <p:spPr>
          <a:xfrm>
            <a:off x="640080" y="4315968"/>
            <a:ext cx="9509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300"/>
              <a:buNone/>
            </a:pPr>
            <a:r>
              <a:rPr lang="en-US" sz="13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[¹ </a:t>
            </a:r>
            <a:r>
              <a:rPr lang="en-US"/>
              <a:t>Fundación Universitaria de Popayán</a:t>
            </a:r>
            <a:r>
              <a:rPr lang="en-US" sz="13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/>
              <a:t>Popayán</a:t>
            </a:r>
            <a:r>
              <a:rPr lang="en-US" sz="13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/>
              <a:t>Colombia</a:t>
            </a:r>
            <a:r>
              <a:rPr lang="en-US" sz="13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 ·  ² </a:t>
            </a:r>
            <a:r>
              <a:rPr lang="en-US"/>
              <a:t>Universidad del Cauca</a:t>
            </a:r>
            <a:r>
              <a:rPr lang="en-US" sz="13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/>
              <a:t>Popayán</a:t>
            </a:r>
            <a:r>
              <a:rPr lang="en-US" sz="13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/>
              <a:t>Colombia </a:t>
            </a:r>
            <a:r>
              <a:rPr lang="en-US" sz="13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1300"/>
          </a:p>
        </p:txBody>
      </p:sp>
      <p:sp>
        <p:nvSpPr>
          <p:cNvPr id="43" name="Google Shape;43;p1"/>
          <p:cNvSpPr/>
          <p:nvPr/>
        </p:nvSpPr>
        <p:spPr>
          <a:xfrm>
            <a:off x="640080" y="5166360"/>
            <a:ext cx="9509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DC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EDC5F"/>
                </a:solidFill>
                <a:latin typeface="Calibri"/>
                <a:ea typeface="Calibri"/>
                <a:cs typeface="Calibri"/>
                <a:sym typeface="Calibri"/>
              </a:rPr>
              <a:t>Track: </a:t>
            </a:r>
            <a:r>
              <a:rPr lang="en-US" sz="1200">
                <a:solidFill>
                  <a:srgbClr val="FEDC5F"/>
                </a:solidFill>
                <a:latin typeface="Calibri"/>
                <a:ea typeface="Calibri"/>
                <a:cs typeface="Calibri"/>
                <a:sym typeface="Calibri"/>
              </a:rPr>
              <a:t>Inteligencia Artificial y Analítica de Datos</a:t>
            </a:r>
            <a:r>
              <a:rPr b="1" i="0" lang="en-US" sz="1200" u="none" cap="none" strike="noStrike">
                <a:solidFill>
                  <a:srgbClr val="FEDC5F"/>
                </a:solidFill>
                <a:latin typeface="Calibri"/>
                <a:ea typeface="Calibri"/>
                <a:cs typeface="Calibri"/>
                <a:sym typeface="Calibri"/>
              </a:rPr>
              <a:t>    ID del artículo: </a:t>
            </a:r>
            <a:r>
              <a:rPr lang="en-US" sz="1200">
                <a:solidFill>
                  <a:srgbClr val="FEDC5F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1200" u="none" cap="none" strike="noStrike">
              <a:solidFill>
                <a:srgbClr val="FEDC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56032"/>
            <a:ext cx="12192000" cy="144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>
            <p:ph type="title"/>
          </p:nvPr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rPr>
              <a:t>Contenido</a:t>
            </a:r>
            <a:endParaRPr sz="3000"/>
          </a:p>
        </p:txBody>
      </p:sp>
      <p:sp>
        <p:nvSpPr>
          <p:cNvPr id="51" name="Google Shape;51;p2"/>
          <p:cNvSpPr/>
          <p:nvPr/>
        </p:nvSpPr>
        <p:spPr>
          <a:xfrm>
            <a:off x="640080" y="1600200"/>
            <a:ext cx="10908792" cy="896112"/>
          </a:xfrm>
          <a:prstGeom prst="roundRect">
            <a:avLst>
              <a:gd fmla="val 8163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60120" y="1810512"/>
            <a:ext cx="475488" cy="475488"/>
          </a:xfrm>
          <a:prstGeom prst="ellipse">
            <a:avLst/>
          </a:prstGeom>
          <a:solidFill>
            <a:srgbClr val="EF6F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60120" y="181051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691640" y="174650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Contexto y problema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691640" y="2075688"/>
            <a:ext cx="8961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F7383"/>
                </a:solidFill>
                <a:latin typeface="Calibri"/>
                <a:ea typeface="Calibri"/>
                <a:cs typeface="Calibri"/>
                <a:sym typeface="Calibri"/>
              </a:rPr>
              <a:t>El sesgo de popularidad concentra atención en éxitos consolidados y limita la visibilidad de artistas emergentes.</a:t>
            </a:r>
            <a:endParaRPr sz="125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40080" y="2697480"/>
            <a:ext cx="10908792" cy="896112"/>
          </a:xfrm>
          <a:prstGeom prst="roundRect">
            <a:avLst>
              <a:gd fmla="val 8163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60120" y="2907792"/>
            <a:ext cx="475488" cy="475488"/>
          </a:xfrm>
          <a:prstGeom prst="ellipse">
            <a:avLst/>
          </a:prstGeom>
          <a:solidFill>
            <a:srgbClr val="1B9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960120" y="290779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691640" y="284378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Método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691640" y="3172968"/>
            <a:ext cx="8961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F7383"/>
                </a:solidFill>
                <a:latin typeface="Calibri"/>
                <a:ea typeface="Calibri"/>
                <a:cs typeface="Calibri"/>
                <a:sym typeface="Calibri"/>
              </a:rPr>
              <a:t>Arquitectura local multimodal con Triple-Encoder Transformer sobre 5.710 pistas integradas de WASABI, MSD, Lyrics 1950-2019 y TalkPlayData-2.</a:t>
            </a:r>
            <a:endParaRPr sz="125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40080" y="3794760"/>
            <a:ext cx="10908792" cy="896112"/>
          </a:xfrm>
          <a:prstGeom prst="roundRect">
            <a:avLst>
              <a:gd fmla="val 8163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960120" y="4005072"/>
            <a:ext cx="475488" cy="475488"/>
          </a:xfrm>
          <a:prstGeom prst="ellipse">
            <a:avLst/>
          </a:prstGeom>
          <a:solidFill>
            <a:srgbClr val="EF6F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960120" y="40050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691640" y="394106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691640" y="4270248"/>
            <a:ext cx="8961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F7383"/>
                </a:solidFill>
                <a:latin typeface="Calibri"/>
                <a:ea typeface="Calibri"/>
                <a:cs typeface="Calibri"/>
                <a:sym typeface="Calibri"/>
              </a:rPr>
              <a:t>Hit@10 = 0.312, ILD +45.3%, EAD +157.9%, latencia sub-250 ms en recuperación.</a:t>
            </a:r>
            <a:endParaRPr sz="125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40080" y="4892040"/>
            <a:ext cx="10908792" cy="896112"/>
          </a:xfrm>
          <a:prstGeom prst="roundRect">
            <a:avLst>
              <a:gd fmla="val 8163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960120" y="5102352"/>
            <a:ext cx="475488" cy="475488"/>
          </a:xfrm>
          <a:prstGeom prst="ellipse">
            <a:avLst/>
          </a:prstGeom>
          <a:solidFill>
            <a:srgbClr val="1B9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960120" y="510235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1691640" y="503834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691640" y="5367528"/>
            <a:ext cx="8961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5F7383"/>
                </a:solidFill>
                <a:latin typeface="Calibri"/>
                <a:ea typeface="Calibri"/>
                <a:cs typeface="Calibri"/>
                <a:sym typeface="Calibri"/>
              </a:rPr>
              <a:t>La afinidad multimodal mitiga el sesgo de popularidad sin sacrificar precisión. Pendiente: validación industrial y estudios online.</a:t>
            </a:r>
            <a:endParaRPr sz="125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>
            <p:ph idx="4294967295" type="sldNum"/>
          </p:nvPr>
        </p:nvSpPr>
        <p:spPr>
          <a:xfrm>
            <a:off x="11430000" y="63550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9DB1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4412" y="6263640"/>
            <a:ext cx="3254188" cy="386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/>
          <p:nvPr>
            <p:ph idx="1" type="body"/>
          </p:nvPr>
        </p:nvSpPr>
        <p:spPr>
          <a:xfrm>
            <a:off x="640080" y="22860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F6F4E"/>
              </a:buClr>
              <a:buSzPts val="6400"/>
              <a:buNone/>
            </a:pPr>
            <a:r>
              <a:rPr b="1" lang="en-US" sz="6400">
                <a:solidFill>
                  <a:srgbClr val="EF6F4E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6400"/>
          </a:p>
        </p:txBody>
      </p:sp>
      <p:sp>
        <p:nvSpPr>
          <p:cNvPr id="79" name="Google Shape;79;p3"/>
          <p:cNvSpPr txBox="1"/>
          <p:nvPr>
            <p:ph type="title"/>
          </p:nvPr>
        </p:nvSpPr>
        <p:spPr>
          <a:xfrm>
            <a:off x="640080" y="329184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Contexto y problema</a:t>
            </a:r>
            <a:endParaRPr sz="3400"/>
          </a:p>
        </p:txBody>
      </p:sp>
      <p:sp>
        <p:nvSpPr>
          <p:cNvPr id="80" name="Google Shape;80;p3"/>
          <p:cNvSpPr txBox="1"/>
          <p:nvPr>
            <p:ph idx="2" type="body"/>
          </p:nvPr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400"/>
              <a:buNone/>
            </a:pPr>
            <a:r>
              <a:rPr lang="en-US"/>
              <a:t>Veremos cómo los algoritmos actuales de recomendación concentran la atención en éxitos consolidados y cómo una arquitectura multimodal basada en contenido puede devolver la visibilidad a los artistas emergentes.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type="title"/>
          </p:nvPr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3000"/>
              <a:buFont typeface="Cambria"/>
              <a:buNone/>
            </a:pPr>
            <a:r>
              <a:rPr lang="en-US" sz="2100"/>
              <a:t>Los sistemas de recomendación musical actuales priorizan la popularidad histórica sobre la afinidad de contenido, creando ciclos de retroalimentación que invisibilizan a los artistas emergentes.</a:t>
            </a:r>
            <a:endParaRPr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3000"/>
              <a:buFont typeface="Cambria"/>
              <a:buNone/>
            </a:pPr>
            <a:r>
              <a:t/>
            </a:r>
            <a:endParaRPr sz="2100"/>
          </a:p>
        </p:txBody>
      </p:sp>
      <p:sp>
        <p:nvSpPr>
          <p:cNvPr id="87" name="Google Shape;87;p4"/>
          <p:cNvSpPr txBox="1"/>
          <p:nvPr>
            <p:ph idx="1" type="body"/>
          </p:nvPr>
        </p:nvSpPr>
        <p:spPr>
          <a:xfrm>
            <a:off x="640080" y="1371600"/>
            <a:ext cx="521208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600"/>
              <a:buChar char="•"/>
            </a:pPr>
            <a:r>
              <a:rPr lang="en-US"/>
              <a:t>Según la IFPI, los ingresos globales de música grabada alcanzaron USD 29.6 mil millones en 2024; sin embargo, este crecimiento económico no se traduce proporcionalmente en oportunidades de visibilidad para nuevos creadores en un paisaje digital cada vez más concentrado.</a:t>
            </a:r>
            <a:endParaRPr/>
          </a:p>
          <a:p>
            <a:pPr indent="-342900" lvl="0" marL="342900" rtl="0" algn="l">
              <a:spcBef>
                <a:spcPts val="1320"/>
              </a:spcBef>
              <a:spcAft>
                <a:spcPts val="0"/>
              </a:spcAft>
              <a:buClr>
                <a:srgbClr val="16232C"/>
              </a:buClr>
              <a:buSzPts val="1600"/>
              <a:buChar char="•"/>
            </a:pPr>
            <a:r>
              <a:rPr lang="en-US"/>
              <a:t>El filtrado colaborativo, aunque eficaz para contenido establecido, sufre del problema de "cold-start" y exhibe un sesgo de popularidad inherente, lo que refuerza la exposición de éxitos masivos y deja fuera al contenido de nicho.</a:t>
            </a:r>
            <a:endParaRPr/>
          </a:p>
          <a:p>
            <a:pPr indent="-342900" lvl="0" marL="342900" rtl="0" algn="l">
              <a:spcBef>
                <a:spcPts val="1320"/>
              </a:spcBef>
              <a:spcAft>
                <a:spcPts val="0"/>
              </a:spcAft>
              <a:buClr>
                <a:srgbClr val="16232C"/>
              </a:buClr>
              <a:buSzPts val="1600"/>
              <a:buChar char="•"/>
            </a:pPr>
            <a:r>
              <a:rPr lang="en-US"/>
              <a:t>La falta de un recomendador multimodal local que evalúe la afinidad intrínseca de la canción (integrando letras, acústica, metadatos y conversación) en lugar de depender de señales de popularidad histórica.</a:t>
            </a:r>
            <a:endParaRPr/>
          </a:p>
          <a:p>
            <a:pPr indent="0" lvl="0" marL="0" rtl="0" algn="l">
              <a:spcBef>
                <a:spcPts val="13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6400800" y="1371600"/>
            <a:ext cx="5148072" cy="3840480"/>
          </a:xfrm>
          <a:prstGeom prst="roundRect">
            <a:avLst>
              <a:gd fmla="val 1905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629400" y="1600200"/>
            <a:ext cx="46908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400800" y="5303520"/>
            <a:ext cx="5148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F7383"/>
                </a:solidFill>
                <a:latin typeface="Calibri"/>
                <a:ea typeface="Calibri"/>
                <a:cs typeface="Calibri"/>
                <a:sym typeface="Calibri"/>
              </a:rPr>
              <a:t>Figura 1. Ciclo de popularidad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>
            <p:ph idx="4294967295" type="sldNum"/>
          </p:nvPr>
        </p:nvSpPr>
        <p:spPr>
          <a:xfrm>
            <a:off x="11430000" y="63550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9DB1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4412" y="6263640"/>
            <a:ext cx="3254188" cy="38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" title="633f65c8-edf3-4ce0-bea8-28c6b4a3449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800" y="1371600"/>
            <a:ext cx="5257800" cy="38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>
            <p:ph type="title"/>
          </p:nvPr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rPr>
              <a:t>Pregunta de investigación o Hipótesis</a:t>
            </a:r>
            <a:endParaRPr sz="3000"/>
          </a:p>
        </p:txBody>
      </p:sp>
      <p:sp>
        <p:nvSpPr>
          <p:cNvPr id="100" name="Google Shape;100;p5"/>
          <p:cNvSpPr/>
          <p:nvPr/>
        </p:nvSpPr>
        <p:spPr>
          <a:xfrm>
            <a:off x="640080" y="1371600"/>
            <a:ext cx="10908792" cy="1691640"/>
          </a:xfrm>
          <a:prstGeom prst="roundRect">
            <a:avLst>
              <a:gd fmla="val 4324" name="adj"/>
            </a:avLst>
          </a:prstGeom>
          <a:solidFill>
            <a:srgbClr val="0A2E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097280" y="1371600"/>
            <a:ext cx="9994392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i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¿Puede un recomendador musical multimodal local mejorar la diversidad y el descubrimiento de artistas emergentes sin sacrificar precisión?</a:t>
            </a:r>
            <a:endParaRPr i="1" sz="24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t/>
            </a:r>
            <a:endParaRPr i="1" sz="24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097280" y="3291839"/>
            <a:ext cx="4850802" cy="2840019"/>
          </a:xfrm>
          <a:prstGeom prst="roundRect">
            <a:avLst>
              <a:gd fmla="val 3404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353312" y="3520440"/>
            <a:ext cx="475488" cy="475488"/>
          </a:xfrm>
          <a:prstGeom prst="ellipse">
            <a:avLst/>
          </a:prstGeom>
          <a:solidFill>
            <a:srgbClr val="EF6F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353312" y="352044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353312" y="4064500"/>
            <a:ext cx="297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353312" y="4638978"/>
            <a:ext cx="2971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Diseñar y evaluar un sistema de recomendación musical multimodal local que priorice la afinidad de contenido para mejorar la diversidad y el descubrimiento de artistas emergentes.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074039" y="3291848"/>
            <a:ext cx="4739700" cy="2840100"/>
          </a:xfrm>
          <a:prstGeom prst="roundRect">
            <a:avLst>
              <a:gd fmla="val 3404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460146" y="3512373"/>
            <a:ext cx="475488" cy="475488"/>
          </a:xfrm>
          <a:prstGeom prst="ellipse">
            <a:avLst/>
          </a:prstGeom>
          <a:solidFill>
            <a:srgbClr val="1B9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460146" y="3512373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460146" y="4056408"/>
            <a:ext cx="297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460146" y="4638986"/>
            <a:ext cx="2971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1. Consolidar datos musicales en una arquitectura local.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2. Entrenar un modelo Transformer con fusión multimodal.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3. Comparar precisión, diversidad, intención y latencia frente a líneas base.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>
            <p:ph idx="4294967295" type="sldNum"/>
          </p:nvPr>
        </p:nvSpPr>
        <p:spPr>
          <a:xfrm>
            <a:off x="11430000" y="63550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9DB1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4412" y="6263640"/>
            <a:ext cx="3254188" cy="386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rPr>
              <a:t>Marco teórico</a:t>
            </a:r>
            <a:endParaRPr sz="3000"/>
          </a:p>
        </p:txBody>
      </p:sp>
      <p:sp>
        <p:nvSpPr>
          <p:cNvPr id="120" name="Google Shape;120;p6"/>
          <p:cNvSpPr/>
          <p:nvPr/>
        </p:nvSpPr>
        <p:spPr>
          <a:xfrm>
            <a:off x="640080" y="1554480"/>
            <a:ext cx="3483864" cy="3566160"/>
          </a:xfrm>
          <a:prstGeom prst="roundRect">
            <a:avLst>
              <a:gd fmla="val 2100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914400" y="1828800"/>
            <a:ext cx="29352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Transformers para recomendación</a:t>
            </a:r>
            <a:r>
              <a:rPr b="1" lang="en-US" sz="17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[Enfoque A]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914400" y="2212848"/>
            <a:ext cx="293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F7383"/>
                </a:solidFill>
                <a:latin typeface="Calibri"/>
                <a:ea typeface="Calibri"/>
                <a:cs typeface="Calibri"/>
                <a:sym typeface="Calibri"/>
              </a:rPr>
              <a:t>Vaswani et al., 2017; Sun et al., 2019; Kang &amp; McAuley, 2018.</a:t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914400" y="2651760"/>
            <a:ext cx="293522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La autoatención modela secuencias de interacción; BERT4Rec y SASRec mejoran precisión, pero pueden mantener sesgo de popularidad.</a:t>
            </a:r>
            <a:endParaRPr sz="13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fmla="val 2100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626864" y="1828800"/>
            <a:ext cx="29352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Música multimodal y datos locales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626864" y="2212848"/>
            <a:ext cx="2935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F7383"/>
                </a:solidFill>
                <a:latin typeface="Calibri"/>
                <a:ea typeface="Calibri"/>
                <a:cs typeface="Calibri"/>
                <a:sym typeface="Calibri"/>
              </a:rPr>
              <a:t>Bertin-Mahieux et al., 2011; Tikat et al., 2021; Armbrust et al., 2020.</a:t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626864" y="2651760"/>
            <a:ext cx="293522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MSD y WASABI aportan letras, audio y metadatos; el enfoque lakehouse permite reproducibilidad y trazabilidad local.</a:t>
            </a:r>
            <a:endParaRPr sz="13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065008" y="1554480"/>
            <a:ext cx="3483864" cy="3567600"/>
          </a:xfrm>
          <a:prstGeom prst="roundRect">
            <a:avLst>
              <a:gd fmla="val 2100" name="adj"/>
            </a:avLst>
          </a:prstGeom>
          <a:solidFill>
            <a:srgbClr val="F4EF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>
            <p:ph idx="4294967295" type="sldNum"/>
          </p:nvPr>
        </p:nvSpPr>
        <p:spPr>
          <a:xfrm>
            <a:off x="11430000" y="63550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9DB1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339328" y="1828800"/>
            <a:ext cx="29352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Recomendación conversacional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339328" y="2212848"/>
            <a:ext cx="2935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5F7383"/>
                </a:solidFill>
                <a:latin typeface="Calibri"/>
                <a:ea typeface="Calibri"/>
                <a:cs typeface="Calibri"/>
                <a:sym typeface="Calibri"/>
              </a:rPr>
              <a:t>Christakopoulou et al., 2016; Gao et al., 2021; Choi et al., 2025.</a:t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5F73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339328" y="2468880"/>
            <a:ext cx="293522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El lenguaje natural captura intención del usuario; TalkPlayData-2 aporta diálogos estructurados, pero falta evaluación generativa rigurosa.</a:t>
            </a:r>
            <a:endParaRPr sz="13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4412" y="6263640"/>
            <a:ext cx="3254188" cy="386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640080" y="22860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F6F4E"/>
              </a:buClr>
              <a:buSzPts val="6400"/>
              <a:buNone/>
            </a:pPr>
            <a:r>
              <a:rPr b="1" lang="en-US" sz="6400">
                <a:solidFill>
                  <a:srgbClr val="EF6F4E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6400"/>
          </a:p>
        </p:txBody>
      </p:sp>
      <p:sp>
        <p:nvSpPr>
          <p:cNvPr id="141" name="Google Shape;141;p7"/>
          <p:cNvSpPr txBox="1"/>
          <p:nvPr>
            <p:ph type="title"/>
          </p:nvPr>
        </p:nvSpPr>
        <p:spPr>
          <a:xfrm>
            <a:off x="640080" y="329184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Método</a:t>
            </a:r>
            <a:endParaRPr sz="3400"/>
          </a:p>
        </p:txBody>
      </p:sp>
      <p:sp>
        <p:nvSpPr>
          <p:cNvPr id="142" name="Google Shape;142;p7"/>
          <p:cNvSpPr txBox="1"/>
          <p:nvPr>
            <p:ph idx="2" type="body"/>
          </p:nvPr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400"/>
              <a:buNone/>
            </a:pPr>
            <a:r>
              <a:rPr lang="en-US"/>
              <a:t>P</a:t>
            </a:r>
            <a:r>
              <a:rPr lang="en-US"/>
              <a:t>ipeline local de cinco etapas, integración multimodal y comparación con líneas base.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rPr>
              <a:t>Diseño metodológico</a:t>
            </a:r>
            <a:endParaRPr sz="3000"/>
          </a:p>
        </p:txBody>
      </p:sp>
      <p:sp>
        <p:nvSpPr>
          <p:cNvPr id="149" name="Google Shape;149;p8"/>
          <p:cNvSpPr/>
          <p:nvPr/>
        </p:nvSpPr>
        <p:spPr>
          <a:xfrm>
            <a:off x="624535" y="1506070"/>
            <a:ext cx="2560320" cy="4249271"/>
          </a:xfrm>
          <a:prstGeom prst="roundRect">
            <a:avLst>
              <a:gd fmla="val 2857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880567" y="1762103"/>
            <a:ext cx="475488" cy="475488"/>
          </a:xfrm>
          <a:prstGeom prst="ellipse">
            <a:avLst/>
          </a:prstGeom>
          <a:solidFill>
            <a:srgbClr val="1B9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80567" y="1762103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880567" y="2374751"/>
            <a:ext cx="2048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880567" y="2713079"/>
            <a:ext cx="20482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Estudio experimental de recomendación multimodal.  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Unidad de análisis: pista musical y consulta conversacional.  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División temporal 80/10/10 para entrenamiento, validación y prueba.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184855" y="2557631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413455" y="1506071"/>
            <a:ext cx="2560320" cy="4249270"/>
          </a:xfrm>
          <a:prstGeom prst="roundRect">
            <a:avLst>
              <a:gd fmla="val 2857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669487" y="1762103"/>
            <a:ext cx="475488" cy="475488"/>
          </a:xfrm>
          <a:prstGeom prst="ellipse">
            <a:avLst/>
          </a:prstGeom>
          <a:solidFill>
            <a:srgbClr val="EF6F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669487" y="1762103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669487" y="2374751"/>
            <a:ext cx="2048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669487" y="2713079"/>
            <a:ext cx="20482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Fuentes: WASABI, Million Song Dataset, Lyrics 1950-2019 y TalkPlayData-2.  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Master Table final: 5.710 pistas con cobertura multimodal.  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Incluye 26 características acústicas y aproximadamente 16.000 diálogos.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973775" y="2557631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202375" y="1506071"/>
            <a:ext cx="2560320" cy="4249270"/>
          </a:xfrm>
          <a:prstGeom prst="roundRect">
            <a:avLst>
              <a:gd fmla="val 2857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458407" y="1762103"/>
            <a:ext cx="475488" cy="475488"/>
          </a:xfrm>
          <a:prstGeom prst="ellipse">
            <a:avLst/>
          </a:prstGeom>
          <a:solidFill>
            <a:srgbClr val="1B9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458407" y="1762103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458407" y="2374751"/>
            <a:ext cx="2048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Procesamiento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458407" y="2713079"/>
            <a:ext cx="20482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Limpieza con MICE y detección de atípicos con MAD, κ = 3.5.  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Mapeo de identificadores con algoritmo húngaro.  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Modelo Triple-Encoder Transformer con atención cruzada y puntuación híbrida:  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α = 0.4, β = 0.3, γ = 0.3.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8762695" y="2557631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8991295" y="1506070"/>
            <a:ext cx="2560320" cy="4249269"/>
          </a:xfrm>
          <a:prstGeom prst="roundRect">
            <a:avLst>
              <a:gd fmla="val 2857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9247327" y="1762103"/>
            <a:ext cx="475488" cy="475488"/>
          </a:xfrm>
          <a:prstGeom prst="ellipse">
            <a:avLst/>
          </a:prstGeom>
          <a:solidFill>
            <a:srgbClr val="EF6F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9247327" y="1762103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9247327" y="2374751"/>
            <a:ext cx="2048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Evaluación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9247327" y="2713079"/>
            <a:ext cx="204825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Métricas: Hit@10, MRR, nDCG@10, ILD, EAD, SCS, IAR y RC.  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Líneas base: Collaborative Filtering, BERT4Rec, SASRec y TalkPlay.  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Evaluación local, con partición temporal y análisis de latencia.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>
            <p:ph idx="4294967295" type="sldNum"/>
          </p:nvPr>
        </p:nvSpPr>
        <p:spPr>
          <a:xfrm>
            <a:off x="11414455" y="6032351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9DB1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4412" y="6263640"/>
            <a:ext cx="3254188" cy="386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>
            <p:ph idx="1" type="body"/>
          </p:nvPr>
        </p:nvSpPr>
        <p:spPr>
          <a:xfrm>
            <a:off x="640080" y="228600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F6F4E"/>
              </a:buClr>
              <a:buSzPts val="6400"/>
              <a:buNone/>
            </a:pPr>
            <a:r>
              <a:rPr b="1" lang="en-US" sz="6400">
                <a:solidFill>
                  <a:srgbClr val="EF6F4E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6400"/>
          </a:p>
        </p:txBody>
      </p:sp>
      <p:sp>
        <p:nvSpPr>
          <p:cNvPr id="180" name="Google Shape;180;p9"/>
          <p:cNvSpPr txBox="1"/>
          <p:nvPr>
            <p:ph type="title"/>
          </p:nvPr>
        </p:nvSpPr>
        <p:spPr>
          <a:xfrm>
            <a:off x="640080" y="329184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Resultados</a:t>
            </a:r>
            <a:endParaRPr sz="3400"/>
          </a:p>
        </p:txBody>
      </p:sp>
      <p:sp>
        <p:nvSpPr>
          <p:cNvPr id="181" name="Google Shape;181;p9"/>
          <p:cNvSpPr txBox="1"/>
          <p:nvPr>
            <p:ph idx="2" type="body"/>
          </p:nvPr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400"/>
              <a:buNone/>
            </a:pPr>
            <a:r>
              <a:rPr lang="en-US"/>
              <a:t>EchoPulse AI logra precisión competitiva mientras mejora sustancialmente la diversidad y el descubrimiento de artistas emergentes.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/>
          <p:nvPr>
            <p:ph type="title"/>
          </p:nvPr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rPr>
              <a:t>Resultados</a:t>
            </a:r>
            <a:endParaRPr sz="3000"/>
          </a:p>
        </p:txBody>
      </p:sp>
      <p:sp>
        <p:nvSpPr>
          <p:cNvPr id="188" name="Google Shape;188;p10"/>
          <p:cNvSpPr/>
          <p:nvPr/>
        </p:nvSpPr>
        <p:spPr>
          <a:xfrm>
            <a:off x="6400800" y="1417320"/>
            <a:ext cx="51480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6F4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EF6F4E"/>
                </a:solidFill>
                <a:latin typeface="Calibri"/>
                <a:ea typeface="Calibri"/>
                <a:cs typeface="Calibri"/>
                <a:sym typeface="Calibri"/>
              </a:rPr>
              <a:t>Qué muestra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400800" y="1828800"/>
            <a:ext cx="5148072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5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Precisión y diversidad:</a:t>
            </a:r>
            <a:r>
              <a:rPr lang="en-US" sz="15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 Hit@10 = 0.312, ILD = 0.497 (+45.3%), superando a Collaborative Filtering, BERT4Rec, SASRec y TalkPlay.</a:t>
            </a:r>
            <a:endParaRPr sz="15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6232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5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Descubrimiento:</a:t>
            </a:r>
            <a:r>
              <a:rPr lang="en-US" sz="15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 EAD = 0.327 (+157.9%); 32.7% de recomendaciones son artistas emergentes (&lt;10K oyentes).</a:t>
            </a:r>
            <a:endParaRPr sz="15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6232C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5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Validación:  </a:t>
            </a:r>
            <a:r>
              <a:rPr lang="en-US" sz="15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Mejoras estadísticamente significativas (p &lt; 0.001). Ablación confirma aporte de atención cruzada (+14.1% nDCG@10).</a:t>
            </a:r>
            <a:endParaRPr sz="15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6232C"/>
              </a:buClr>
              <a:buSzPts val="1500"/>
              <a:buFont typeface="Calibri"/>
              <a:buChar char="•"/>
            </a:pPr>
            <a:r>
              <a:t/>
            </a:r>
            <a:endParaRPr sz="15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400800" y="4526280"/>
            <a:ext cx="5148072" cy="1051560"/>
          </a:xfrm>
          <a:prstGeom prst="roundRect">
            <a:avLst>
              <a:gd fmla="val 6957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6629400" y="4663440"/>
            <a:ext cx="46908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0A2E45"/>
                </a:solidFill>
                <a:latin typeface="Calibri"/>
                <a:ea typeface="Calibri"/>
                <a:cs typeface="Calibri"/>
                <a:sym typeface="Calibri"/>
              </a:rPr>
              <a:t>La afinidad multimodal de contenido mitiga el sesgo de popularidad manteniendo precisión competitiva.</a:t>
            </a:r>
            <a:endParaRPr b="1" sz="1350">
              <a:solidFill>
                <a:srgbClr val="0A2E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1350"/>
              <a:buFont typeface="Calibri"/>
              <a:buNone/>
            </a:pPr>
            <a:r>
              <a:t/>
            </a:r>
            <a:endParaRPr b="1" sz="1350">
              <a:solidFill>
                <a:srgbClr val="0A2E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>
            <p:ph idx="4294967295" type="sldNum"/>
          </p:nvPr>
        </p:nvSpPr>
        <p:spPr>
          <a:xfrm>
            <a:off x="11430000" y="63550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9DB1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4412" y="6263640"/>
            <a:ext cx="3254188" cy="386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500" y="1011050"/>
            <a:ext cx="5575600" cy="1528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175" y="2539600"/>
            <a:ext cx="5984626" cy="316863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0"/>
          <p:cNvSpPr txBox="1"/>
          <p:nvPr/>
        </p:nvSpPr>
        <p:spPr>
          <a:xfrm>
            <a:off x="146500" y="5708225"/>
            <a:ext cx="5297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5F7383"/>
                </a:solidFill>
                <a:latin typeface="Calibri"/>
                <a:ea typeface="Calibri"/>
                <a:cs typeface="Calibri"/>
                <a:sym typeface="Calibri"/>
              </a:rPr>
              <a:t>Figura 2. Comparativa EchoPulse AI frente a lineas base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/>
          <p:nvPr>
            <p:ph type="title"/>
          </p:nvPr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rPr>
              <a:t>Discusión y limitaciones</a:t>
            </a:r>
            <a:endParaRPr sz="3000"/>
          </a:p>
        </p:txBody>
      </p:sp>
      <p:sp>
        <p:nvSpPr>
          <p:cNvPr id="203" name="Google Shape;203;p11"/>
          <p:cNvSpPr/>
          <p:nvPr/>
        </p:nvSpPr>
        <p:spPr>
          <a:xfrm>
            <a:off x="640080" y="1371600"/>
            <a:ext cx="5212080" cy="4206240"/>
          </a:xfrm>
          <a:prstGeom prst="roundRect">
            <a:avLst>
              <a:gd fmla="val 1739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914400" y="160020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9AAA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9AAA"/>
                </a:solidFill>
                <a:latin typeface="Calibri"/>
                <a:ea typeface="Calibri"/>
                <a:cs typeface="Calibri"/>
                <a:sym typeface="Calibri"/>
              </a:rPr>
              <a:t>Qué implica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914400" y="2286005"/>
            <a:ext cx="46635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La fusión multimodal por atención cruzada proporciona beneficios medibles sobre enfoques de fusión temprana o tardía, validando la arquitectura Triple-Encoder Transformer.</a:t>
            </a:r>
            <a:endParaRPr sz="14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Plataformas musicales, investigadores y artistas emergentes pueden beneficiarse de recomendadores que equilibren precisión, diversidad y descubrimiento. El 157.9% de mejora en EAD aborda la brecha de visibilidad.</a:t>
            </a:r>
            <a:endParaRPr sz="14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spcBef>
                <a:spcPts val="1000"/>
              </a:spcBef>
              <a:spcAft>
                <a:spcPts val="0"/>
              </a:spcAft>
              <a:buClr>
                <a:srgbClr val="16232C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EchoPulse AI supera a BERT4Rec (Hit@10 = 0.158) y SASRec (Hit@10 = 0.164) al integrar señales multimodales en lugar de solo interacciones históricas.</a:t>
            </a:r>
            <a:endParaRPr sz="14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6400800" y="1371600"/>
            <a:ext cx="5148072" cy="4206240"/>
          </a:xfrm>
          <a:prstGeom prst="roundRect">
            <a:avLst>
              <a:gd fmla="val 1739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6675120" y="1600200"/>
            <a:ext cx="4599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6F4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EF6F4E"/>
                </a:solidFill>
                <a:latin typeface="Calibri"/>
                <a:ea typeface="Calibri"/>
                <a:cs typeface="Calibri"/>
                <a:sym typeface="Calibri"/>
              </a:rPr>
              <a:t>Qué no cubre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6675120" y="2011680"/>
            <a:ext cx="459943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Validación sobre catálogo curado de 5.710 pistas, subconjunto del paisaje musical global. Escalar a millones de pistas presenta desafíos de ingeniería de datos en entornos locales.</a:t>
            </a:r>
            <a:endParaRPr sz="14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rtl="0" algn="l">
              <a:spcBef>
                <a:spcPts val="1000"/>
              </a:spcBef>
              <a:spcAft>
                <a:spcPts val="0"/>
              </a:spcAft>
              <a:buClr>
                <a:srgbClr val="16232C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Evaluación offline con métricas; faltan estudios online con usuarios reales (pruebas A/B) para medir satisfacción percibida.</a:t>
            </a:r>
            <a:endParaRPr sz="145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6232C"/>
              </a:buClr>
              <a:buSzPts val="1450"/>
              <a:buFont typeface="Calibri"/>
              <a:buChar char="•"/>
            </a:pPr>
            <a:r>
              <a:rPr lang="en-US" sz="145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El pipeline completo tarda ~6.23 segundos debido a componentes LLM (Qwen 2.5), aunque la recuperación y reordenamiento logran &lt;250 ms.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 txBox="1"/>
          <p:nvPr>
            <p:ph idx="4294967295" type="sldNum"/>
          </p:nvPr>
        </p:nvSpPr>
        <p:spPr>
          <a:xfrm>
            <a:off x="11430000" y="63550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9DB1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4412" y="6263640"/>
            <a:ext cx="3254188" cy="386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 txBox="1"/>
          <p:nvPr>
            <p:ph type="title"/>
          </p:nvPr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rPr>
              <a:t>Conclusiones</a:t>
            </a:r>
            <a:endParaRPr sz="3000"/>
          </a:p>
        </p:txBody>
      </p:sp>
      <p:sp>
        <p:nvSpPr>
          <p:cNvPr id="217" name="Google Shape;217;p12"/>
          <p:cNvSpPr/>
          <p:nvPr/>
        </p:nvSpPr>
        <p:spPr>
          <a:xfrm>
            <a:off x="640080" y="1783080"/>
            <a:ext cx="475488" cy="475488"/>
          </a:xfrm>
          <a:prstGeom prst="ellipse">
            <a:avLst/>
          </a:prstGeom>
          <a:solidFill>
            <a:srgbClr val="EF6F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640080" y="178308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1463040" y="164592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2000"/>
              <a:buFont typeface="Cambria"/>
              <a:buNone/>
            </a:pPr>
            <a:r>
              <a:rPr lang="en-US" sz="2000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rPr>
              <a:t>Demostramos la viabilidad de las arquitecturas de datos locales híbridas y la fusión multimodal (vía Transformers con atención cruzada) para mitigar el sesgo de popularidad y priorizar la afinidad de contenido sin depender de la nube.</a:t>
            </a:r>
            <a:endParaRPr sz="2000">
              <a:solidFill>
                <a:srgbClr val="0A2E4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2000"/>
              <a:buFont typeface="Cambria"/>
              <a:buNone/>
            </a:pPr>
            <a:r>
              <a:t/>
            </a:r>
            <a:endParaRPr sz="2000">
              <a:solidFill>
                <a:srgbClr val="0A2E4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40080" y="3017520"/>
            <a:ext cx="475488" cy="475488"/>
          </a:xfrm>
          <a:prstGeom prst="ellipse">
            <a:avLst/>
          </a:prstGeom>
          <a:solidFill>
            <a:srgbClr val="EF6F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640080" y="30175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1463040" y="288036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2000"/>
              <a:buFont typeface="Cambria"/>
              <a:buNone/>
            </a:pPr>
            <a:r>
              <a:rPr lang="en-US" sz="2000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rPr>
              <a:t>Logra 45.3% más de Diversidad Intra-Lista y 157.9% más de Descubrimiento de Artistas Emergentes frente a líneas base, manteniendo precisión (Hit@10 = 0.312) y capturando mejor la intención del usuario (SCS = 0.741).</a:t>
            </a:r>
            <a:endParaRPr sz="2000">
              <a:solidFill>
                <a:srgbClr val="0A2E4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2000"/>
              <a:buFont typeface="Cambria"/>
              <a:buNone/>
            </a:pPr>
            <a:r>
              <a:t/>
            </a:r>
            <a:endParaRPr sz="2000">
              <a:solidFill>
                <a:srgbClr val="0A2E4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2000"/>
              <a:buFont typeface="Cambria"/>
              <a:buNone/>
            </a:pPr>
            <a:r>
              <a:t/>
            </a:r>
            <a:endParaRPr sz="2000">
              <a:solidFill>
                <a:srgbClr val="0A2E4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640080" y="4251960"/>
            <a:ext cx="475488" cy="475488"/>
          </a:xfrm>
          <a:prstGeom prst="ellipse">
            <a:avLst/>
          </a:prstGeom>
          <a:solidFill>
            <a:srgbClr val="1B9AA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640080" y="42519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1463040" y="4114800"/>
            <a:ext cx="9966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2000"/>
              <a:buFont typeface="Cambria"/>
              <a:buNone/>
            </a:pPr>
            <a:r>
              <a:rPr lang="en-US" sz="2000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rPr>
              <a:t>Escalar a catálogos industriales superando límites de almacenamiento local, mitigar la latencia de ~6s del LLM mediante estrategias de caché o destilación, y liberar la Master Table y scripts como benchmarks públicos.</a:t>
            </a:r>
            <a:endParaRPr sz="2000">
              <a:solidFill>
                <a:srgbClr val="0A2E4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2000"/>
              <a:buFont typeface="Cambria"/>
              <a:buNone/>
            </a:pPr>
            <a:r>
              <a:t/>
            </a:r>
            <a:endParaRPr sz="2000">
              <a:solidFill>
                <a:srgbClr val="0A2E4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2000"/>
              <a:buFont typeface="Cambria"/>
              <a:buNone/>
            </a:pPr>
            <a:r>
              <a:t/>
            </a:r>
            <a:endParaRPr sz="2000">
              <a:solidFill>
                <a:srgbClr val="0A2E4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40080" y="5394960"/>
            <a:ext cx="10908792" cy="685800"/>
          </a:xfrm>
          <a:prstGeom prst="roundRect">
            <a:avLst>
              <a:gd fmla="val 10667" name="adj"/>
            </a:avLst>
          </a:prstGeom>
          <a:solidFill>
            <a:srgbClr val="F4EFE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914400" y="5394960"/>
            <a:ext cx="103601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F7383"/>
                </a:solidFill>
                <a:latin typeface="Calibri"/>
                <a:ea typeface="Calibri"/>
                <a:cs typeface="Calibri"/>
                <a:sym typeface="Calibri"/>
              </a:rPr>
              <a:t>Agradecimientos: Dios, Grupo Investivacion IMS FUP, Camilo Ordoñez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>
            <p:ph idx="4294967295" type="sldNum"/>
          </p:nvPr>
        </p:nvSpPr>
        <p:spPr>
          <a:xfrm>
            <a:off x="11430000" y="63550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9DB1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4412" y="6263640"/>
            <a:ext cx="3254188" cy="386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 txBox="1"/>
          <p:nvPr>
            <p:ph type="title"/>
          </p:nvPr>
        </p:nvSpPr>
        <p:spPr>
          <a:xfrm>
            <a:off x="640080" y="457200"/>
            <a:ext cx="109115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A2E45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A2E45"/>
                </a:solidFill>
                <a:latin typeface="Cambria"/>
                <a:ea typeface="Cambria"/>
                <a:cs typeface="Cambria"/>
                <a:sym typeface="Cambria"/>
              </a:rPr>
              <a:t>Referencias</a:t>
            </a:r>
            <a:endParaRPr sz="3000"/>
          </a:p>
        </p:txBody>
      </p:sp>
      <p:sp>
        <p:nvSpPr>
          <p:cNvPr id="236" name="Google Shape;236;p13"/>
          <p:cNvSpPr/>
          <p:nvPr/>
        </p:nvSpPr>
        <p:spPr>
          <a:xfrm>
            <a:off x="640080" y="1371600"/>
            <a:ext cx="521208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[1] Vaswani, A., Shazeer, N., Parmar, N., Uszkoreit, J., Jones, L., Gomez, A.N., Kaiser, L., Polosukhin, I.: Attention is all you need. In: Advances in Neural Information Processing Systems 30 (NeurIPS), pp. 5998–6008 (2017)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[2] Sun, F., Liu, J., Wu, J., Pei, C., Lin, X., Ou, W., Jiang, P.: BERT4Rec: Sequential recommendation with bidirectional encoder representations from transformer. In: ACM International Conference on Information and Knowledge Management (CIKM), pp. 1441–1450 (2019)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[3] Kang, W.C., McAuley, J.: Self-attentive sequential recommendation. In: IEEE International Conference on Data Mining (ICDM), pp. 197–206 (2018)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[4] Bertin-Mahieux, T., Ellis, D.P.W., Whitman, B., Lamere, P.: The million song dataset. In: Proceedings of the 12th International Society for Music Information Retrieval Conference (ISMIR), pp. 591–596 (2011)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[5] Tikat, A., Sordo, M., Celma, O., Serra, X.: The WASABI dataset: Cultural, lyrics and audio analysis metadata about 2 million popular commercially released songs. In: Proceedings of the 22nd International Society for Music Information Retrieval Conference (ISMIR), pp. 862–869 (2021)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6400800" y="1371600"/>
            <a:ext cx="5148072" cy="4206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6] Moura, L., Fontelles, E., Sampaio, V., França, M.: Music Dataset: Lyrics and Metadata from 1950 to 2019. Mendeley Data, V2. doi:10.17632/3t9vbwxgr5.2 (2020)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[7] Choi, K., Doh, S., Nam, J.: TalkPlayData 2: An agentic synthetic data pipeline for multimodal conversational music recommendation. arXiv preprint arXiv:2509.09685 (2025)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[8] Armbrust, M., Buragohain, P., Xin, R., et al.: Delta Lake: High-performance ACID table storage over cloud object stores. Proceedings of the VLDB Endowment 13(12), 3411–3424 (2020)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[9] Christakopoulou, K., Radlinski, F., Hofmann, K.: Towards conversational recommender systems. In: Proceedings of the 22nd ACM SIGKDD International Conference on Knowledge Discovery and Data Mining, pp. 815–824 (2016)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6232C"/>
                </a:solidFill>
                <a:latin typeface="Calibri"/>
                <a:ea typeface="Calibri"/>
                <a:cs typeface="Calibri"/>
                <a:sym typeface="Calibri"/>
              </a:rPr>
              <a:t>[10] Gao, C., Lei, W., He, X., de Rijke, M., Chua, T.S.: Advances and challenges in conversational recommender systems. AI Open 2, 100–126 (2021)</a:t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2C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1623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640080" y="5669280"/>
            <a:ext cx="10908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 txBox="1"/>
          <p:nvPr>
            <p:ph idx="4294967295" type="sldNum"/>
          </p:nvPr>
        </p:nvSpPr>
        <p:spPr>
          <a:xfrm>
            <a:off x="11430000" y="63550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9DB1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"/>
          <p:cNvSpPr/>
          <p:nvPr/>
        </p:nvSpPr>
        <p:spPr>
          <a:xfrm>
            <a:off x="640080" y="2208007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640080" y="3213847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6F4E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EF6F4E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640080" y="4219687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John Kennedy Landazuri Sandoval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400"/>
              <a:buFont typeface="Calibri"/>
              <a:buNone/>
            </a:pPr>
            <a:r>
              <a:rPr lang="en-US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john.landazuri@estudiante.fup.edu.co</a:t>
            </a:r>
            <a:endParaRPr>
              <a:solidFill>
                <a:srgbClr val="9DB1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ORCID</a:t>
            </a:r>
            <a:r>
              <a:rPr lang="en-US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: 0009-0001-2345-6789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8046720" y="3762487"/>
            <a:ext cx="1737360" cy="1737360"/>
          </a:xfrm>
          <a:prstGeom prst="roundRect">
            <a:avLst>
              <a:gd fmla="val 4211" name="adj"/>
            </a:avLst>
          </a:prstGeom>
          <a:solidFill>
            <a:srgbClr val="FFFFFF">
              <a:alpha val="12157"/>
            </a:srgbClr>
          </a:solidFill>
          <a:ln cap="flat" cmpd="sng" w="9525">
            <a:solidFill>
              <a:srgbClr val="9DB1B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8046720" y="3762487"/>
            <a:ext cx="1737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1B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DB1BF"/>
                </a:solidFill>
                <a:latin typeface="Calibri"/>
                <a:ea typeface="Calibri"/>
                <a:cs typeface="Calibri"/>
                <a:sym typeface="Calibri"/>
              </a:rPr>
              <a:t>[Imagen]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640080" y="6126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38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F7383"/>
                </a:solidFill>
                <a:latin typeface="Calibri"/>
                <a:ea typeface="Calibri"/>
                <a:cs typeface="Calibri"/>
                <a:sym typeface="Calibri"/>
              </a:rPr>
              <a:t>20CCC'26  ·  Cartagena de Indias  ·  12–14 de agosto de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358531"/>
            <a:ext cx="12192001" cy="1447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6725" y="3762500"/>
            <a:ext cx="1737350" cy="173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2026-07-31T00:24:09Z</dcterms:created>
  <dc:creator>Sociedad Colombiana de Computación (SCo2)</dc:creator>
</cp:coreProperties>
</file>